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 Semi Bold"/>
      <p:regular r:id="rId17"/>
    </p:embeddedFont>
    <p:embeddedFont>
      <p:font typeface="Alexandria Semi Bold"/>
      <p:regular r:id="rId18"/>
    </p:embeddedFont>
    <p:embeddedFont>
      <p:font typeface="Sora Light"/>
      <p:regular r:id="rId19"/>
    </p:embeddedFont>
    <p:embeddedFont>
      <p:font typeface="Sora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929884"/>
            <a:ext cx="572416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Webnovel Architect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967514"/>
            <a:ext cx="7627382" cy="1967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Neuro-Symbolic Story Intelligence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58309" y="5259586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Turning evolving web novels into living audio dramas using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Graph RAG (DyG-RAG)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a zero-GPU modular system that thinks in graphs and speaks in character.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008" y="491490"/>
            <a:ext cx="8496657" cy="57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Problem with Static Audiobooks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008" y="1426607"/>
            <a:ext cx="8041958" cy="44884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87733" y="2966085"/>
            <a:ext cx="3439954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Why Traditional Pipelines Fail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487733" y="3390186"/>
            <a:ext cx="4135041" cy="999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Serial web novels are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living documents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Characters emerge, shift in prominence, and evolve across hundreds of chapters — none of which exist when production begins.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015008" y="6227445"/>
            <a:ext cx="4107537" cy="1510665"/>
          </a:xfrm>
          <a:prstGeom prst="roundRect">
            <a:avLst>
              <a:gd name="adj" fmla="val 7264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2148" y="6227445"/>
            <a:ext cx="91440" cy="1510665"/>
          </a:xfrm>
          <a:prstGeom prst="roundRect">
            <a:avLst>
              <a:gd name="adj" fmla="val 79683"/>
            </a:avLst>
          </a:prstGeom>
          <a:solidFill>
            <a:srgbClr val="1A2D7A"/>
          </a:solidFill>
          <a:ln/>
        </p:spPr>
      </p:sp>
      <p:sp>
        <p:nvSpPr>
          <p:cNvPr id="8" name="Text 5"/>
          <p:cNvSpPr/>
          <p:nvPr/>
        </p:nvSpPr>
        <p:spPr>
          <a:xfrm>
            <a:off x="1279922" y="6423779"/>
            <a:ext cx="22825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Evolving Context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279922" y="6792397"/>
            <a:ext cx="3646289" cy="4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Static TTS assignment cannot adapt to sprawling, emergent casts.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61372" y="6227445"/>
            <a:ext cx="4107537" cy="1510665"/>
          </a:xfrm>
          <a:prstGeom prst="roundRect">
            <a:avLst>
              <a:gd name="adj" fmla="val 7264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38512" y="6227445"/>
            <a:ext cx="91440" cy="1510665"/>
          </a:xfrm>
          <a:prstGeom prst="roundRect">
            <a:avLst>
              <a:gd name="adj" fmla="val 79683"/>
            </a:avLst>
          </a:prstGeom>
          <a:solidFill>
            <a:srgbClr val="1A2D7A"/>
          </a:solidFill>
          <a:ln/>
        </p:spPr>
      </p:sp>
      <p:sp>
        <p:nvSpPr>
          <p:cNvPr id="12" name="Text 9"/>
          <p:cNvSpPr/>
          <p:nvPr/>
        </p:nvSpPr>
        <p:spPr>
          <a:xfrm>
            <a:off x="5526286" y="6423779"/>
            <a:ext cx="22825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GPU Barrier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526286" y="6792397"/>
            <a:ext cx="3646289" cy="74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High-quality local LLMs and audio synthesis demand expensive hardware, limiting accessibility.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507736" y="6227445"/>
            <a:ext cx="4107537" cy="1510665"/>
          </a:xfrm>
          <a:prstGeom prst="roundRect">
            <a:avLst>
              <a:gd name="adj" fmla="val 7264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484876" y="6227445"/>
            <a:ext cx="91440" cy="1510665"/>
          </a:xfrm>
          <a:prstGeom prst="roundRect">
            <a:avLst>
              <a:gd name="adj" fmla="val 79683"/>
            </a:avLst>
          </a:prstGeom>
          <a:solidFill>
            <a:srgbClr val="1A2D7A"/>
          </a:solidFill>
          <a:ln/>
        </p:spPr>
      </p:sp>
      <p:sp>
        <p:nvSpPr>
          <p:cNvPr id="16" name="Text 13"/>
          <p:cNvSpPr/>
          <p:nvPr/>
        </p:nvSpPr>
        <p:spPr>
          <a:xfrm>
            <a:off x="9772650" y="6423779"/>
            <a:ext cx="22825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 Memory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772650" y="6792397"/>
            <a:ext cx="3646289" cy="749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Traditional pipelines treat each chapter in isolation — no persistent character intelligence.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9819" y="1351121"/>
            <a:ext cx="5042892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Core Concept &amp; Design Goals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9819" y="1902738"/>
            <a:ext cx="8224361" cy="1184196"/>
          </a:xfrm>
          <a:prstGeom prst="roundRect">
            <a:avLst>
              <a:gd name="adj" fmla="val 466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8765" y="2041684"/>
            <a:ext cx="394097" cy="394097"/>
          </a:xfrm>
          <a:prstGeom prst="roundRect">
            <a:avLst>
              <a:gd name="adj" fmla="val 23200089"/>
            </a:avLst>
          </a:prstGeom>
          <a:solidFill>
            <a:srgbClr val="1A2D7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112" y="2150031"/>
            <a:ext cx="177284" cy="1772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765" y="2515433"/>
            <a:ext cx="185856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Dynamic Intelligence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8765" y="2779276"/>
            <a:ext cx="7946469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characters and events across chapters via a persistent, queryable story graph.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9819" y="3166586"/>
            <a:ext cx="8224361" cy="1184196"/>
          </a:xfrm>
          <a:prstGeom prst="roundRect">
            <a:avLst>
              <a:gd name="adj" fmla="val 466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8765" y="3305532"/>
            <a:ext cx="394097" cy="394097"/>
          </a:xfrm>
          <a:prstGeom prst="roundRect">
            <a:avLst>
              <a:gd name="adj" fmla="val 23200089"/>
            </a:avLst>
          </a:prstGeom>
          <a:solidFill>
            <a:srgbClr val="1A2D7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112" y="3413879"/>
            <a:ext cx="177284" cy="1772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8765" y="3779282"/>
            <a:ext cx="1728668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Intelligent Casting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98765" y="4043124"/>
            <a:ext cx="7946469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PageRank-based "Graduation" assigns premium voices only to narratively important characters.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9819" y="4430435"/>
            <a:ext cx="8224361" cy="1184196"/>
          </a:xfrm>
          <a:prstGeom prst="roundRect">
            <a:avLst>
              <a:gd name="adj" fmla="val 466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8765" y="4569381"/>
            <a:ext cx="394097" cy="394097"/>
          </a:xfrm>
          <a:prstGeom prst="roundRect">
            <a:avLst>
              <a:gd name="adj" fmla="val 23200089"/>
            </a:avLst>
          </a:prstGeom>
          <a:solidFill>
            <a:srgbClr val="1A2D7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7112" y="4677728"/>
            <a:ext cx="177284" cy="1772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8765" y="5043130"/>
            <a:ext cx="1978343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Zero-GPU Accessibility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98765" y="5306973"/>
            <a:ext cx="7946469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Runs on a standard laptop using Kokoro ONNX, EdgeTTS, and LiteLLM API models.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9819" y="5694283"/>
            <a:ext cx="8224361" cy="1184196"/>
          </a:xfrm>
          <a:prstGeom prst="roundRect">
            <a:avLst>
              <a:gd name="adj" fmla="val 466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8765" y="5833229"/>
            <a:ext cx="394097" cy="394097"/>
          </a:xfrm>
          <a:prstGeom prst="roundRect">
            <a:avLst>
              <a:gd name="adj" fmla="val 23200089"/>
            </a:avLst>
          </a:prstGeom>
          <a:solidFill>
            <a:srgbClr val="1A2D7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112" y="5941576"/>
            <a:ext cx="177284" cy="1772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8765" y="6306979"/>
            <a:ext cx="2058114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Neuro-Symbolic Hybrid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98765" y="6570821"/>
            <a:ext cx="7946469" cy="168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Neural LLMs extract events; symbolic DAGs (NetworkX) provide persistent, structured memory.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76551"/>
            <a:ext cx="593848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2252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event-centric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DyG-RAG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pipeline — four composable modules, each with a single responsibility.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712958"/>
            <a:ext cx="13113782" cy="3595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9040" y="4012137"/>
            <a:ext cx="1981722" cy="37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Eye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2339040" y="4486623"/>
            <a:ext cx="1981722" cy="85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LLM ingests raw text into entities and events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013665" y="3525036"/>
            <a:ext cx="1981721" cy="37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Brain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5013665" y="3999521"/>
            <a:ext cx="1981721" cy="113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NetworkX story graph persists nodes and edges as JSON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738754" y="4012137"/>
            <a:ext cx="1981721" cy="37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Director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7738754" y="4486623"/>
            <a:ext cx="1981721" cy="1419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PageRank reasoning α=0.85; selects central characters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438611" y="3525036"/>
            <a:ext cx="1981721" cy="373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Voice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0438611" y="3999521"/>
            <a:ext cx="1981721" cy="1135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TTS: Kokoro local for leads, EdgeTTS for background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8309" y="6552009"/>
            <a:ext cx="1311378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Adapter Pattern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underpins each module — abstract base classes for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LLMProvider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TTSProvider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and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GraphProvider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guarantee extensibility without coupling.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295" y="587693"/>
            <a:ext cx="5352931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End-to-End Workflow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3295" y="1504117"/>
            <a:ext cx="735211" cy="1102876"/>
          </a:xfrm>
          <a:prstGeom prst="roundRect">
            <a:avLst>
              <a:gd name="adj" fmla="val 36002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085" y="1917621"/>
            <a:ext cx="275630" cy="2756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4358" y="1687830"/>
            <a:ext cx="241851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Ingest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34358" y="2083475"/>
            <a:ext cx="124527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Raw chapter text passed to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ingest_chapter_text()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split at 4,000-char context boundaries.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3295" y="2762845"/>
            <a:ext cx="735211" cy="1102876"/>
          </a:xfrm>
          <a:prstGeom prst="roundRect">
            <a:avLst>
              <a:gd name="adj" fmla="val 36002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3085" y="3176349"/>
            <a:ext cx="275630" cy="275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4358" y="2946559"/>
            <a:ext cx="241851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Extract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534358" y="3342203"/>
            <a:ext cx="1245274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LiteLLM identifies speakers, emotions, and narrative events — e.g., </a:t>
            </a:r>
            <a:pPr algn="l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"Aria confronts Thorne."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3295" y="4021574"/>
            <a:ext cx="735211" cy="1102876"/>
          </a:xfrm>
          <a:prstGeom prst="roundRect">
            <a:avLst>
              <a:gd name="adj" fmla="val 36002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085" y="4435078"/>
            <a:ext cx="275630" cy="2756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4358" y="4205288"/>
            <a:ext cx="241851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Graph Update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534358" y="4600932"/>
            <a:ext cx="12452747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Character nodes and event edges are upserted into the NetworkX DAG, encoding the new chapter state.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3295" y="5280303"/>
            <a:ext cx="735211" cy="1102876"/>
          </a:xfrm>
          <a:prstGeom prst="roundRect">
            <a:avLst>
              <a:gd name="adj" fmla="val 36002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085" y="5693807"/>
            <a:ext cx="275630" cy="2756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4358" y="5464016"/>
            <a:ext cx="241851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Graduate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1534358" y="5859661"/>
            <a:ext cx="124527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get_character_importance()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runs PageRank; scores above </a:t>
            </a:r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0.15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promote to main cast.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3295" y="6539032"/>
            <a:ext cx="735211" cy="1102876"/>
          </a:xfrm>
          <a:prstGeom prst="roundRect">
            <a:avLst>
              <a:gd name="adj" fmla="val 36002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085" y="6952536"/>
            <a:ext cx="275630" cy="2756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34358" y="6722745"/>
            <a:ext cx="2418517" cy="302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Output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1534358" y="7118390"/>
            <a:ext cx="124527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Canonical Markdown wiki profiles and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.wav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audio files are generated per character tier.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1467" y="1199436"/>
            <a:ext cx="5491043" cy="462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Development Process &amp; SDLC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211467" y="1889403"/>
            <a:ext cx="2611279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Hybrid SDLC — Spiral + Agile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2211467" y="2211586"/>
            <a:ext cx="4932283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Architecture evolves through risk-driven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Spiral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research loops. Functional milestones are delivered as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Agile sprints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enabling continuous demonstration at each phase boundary.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952792" y="1900833"/>
            <a:ext cx="15240" cy="3948827"/>
          </a:xfrm>
          <a:prstGeom prst="roundRect">
            <a:avLst>
              <a:gd name="adj" fmla="val 387308"/>
            </a:avLst>
          </a:prstGeom>
          <a:solidFill>
            <a:srgbClr val="BBC2DC"/>
          </a:solidFill>
          <a:ln/>
        </p:spPr>
      </p:sp>
      <p:sp>
        <p:nvSpPr>
          <p:cNvPr id="6" name="Shape 4"/>
          <p:cNvSpPr/>
          <p:nvPr/>
        </p:nvSpPr>
        <p:spPr>
          <a:xfrm>
            <a:off x="9694664" y="2051209"/>
            <a:ext cx="280988" cy="15240"/>
          </a:xfrm>
          <a:prstGeom prst="roundRect">
            <a:avLst>
              <a:gd name="adj" fmla="val 387308"/>
            </a:avLst>
          </a:prstGeom>
          <a:solidFill>
            <a:srgbClr val="BBC2DC"/>
          </a:solidFill>
          <a:ln/>
        </p:spPr>
      </p:sp>
      <p:sp>
        <p:nvSpPr>
          <p:cNvPr id="7" name="Shape 5"/>
          <p:cNvSpPr/>
          <p:nvPr/>
        </p:nvSpPr>
        <p:spPr>
          <a:xfrm>
            <a:off x="9907726" y="2006144"/>
            <a:ext cx="105370" cy="105370"/>
          </a:xfrm>
          <a:prstGeom prst="roundRect">
            <a:avLst>
              <a:gd name="adj" fmla="val 433900"/>
            </a:avLst>
          </a:prstGeom>
          <a:solidFill>
            <a:srgbClr val="1A2D7A"/>
          </a:solidFill>
          <a:ln/>
        </p:spPr>
      </p:sp>
      <p:sp>
        <p:nvSpPr>
          <p:cNvPr id="8" name="Text 6"/>
          <p:cNvSpPr/>
          <p:nvPr/>
        </p:nvSpPr>
        <p:spPr>
          <a:xfrm>
            <a:off x="7494270" y="1949053"/>
            <a:ext cx="1904047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Phase 0 — Requirements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4270" y="2502337"/>
            <a:ext cx="190404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Defined the Neuro-Symbolic problem space; literature review.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945172" y="2795588"/>
            <a:ext cx="280988" cy="15240"/>
          </a:xfrm>
          <a:prstGeom prst="roundRect">
            <a:avLst>
              <a:gd name="adj" fmla="val 387308"/>
            </a:avLst>
          </a:prstGeom>
          <a:solidFill>
            <a:srgbClr val="BB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9907726" y="2750522"/>
            <a:ext cx="105370" cy="105370"/>
          </a:xfrm>
          <a:prstGeom prst="roundRect">
            <a:avLst>
              <a:gd name="adj" fmla="val 433900"/>
            </a:avLst>
          </a:prstGeom>
          <a:solidFill>
            <a:srgbClr val="1A2D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22506" y="2693432"/>
            <a:ext cx="1904047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Phases 1 &amp; 2 — Prototype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522506" y="3246715"/>
            <a:ext cx="1904047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Regex/heuristic prototype and basic entity wiki.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4664" y="3472934"/>
            <a:ext cx="280988" cy="15240"/>
          </a:xfrm>
          <a:prstGeom prst="roundRect">
            <a:avLst>
              <a:gd name="adj" fmla="val 387308"/>
            </a:avLst>
          </a:prstGeom>
          <a:solidFill>
            <a:srgbClr val="BB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7726" y="3427869"/>
            <a:ext cx="105370" cy="105370"/>
          </a:xfrm>
          <a:prstGeom prst="roundRect">
            <a:avLst>
              <a:gd name="adj" fmla="val 433900"/>
            </a:avLst>
          </a:prstGeom>
          <a:solidFill>
            <a:srgbClr val="1A2D7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4270" y="3370778"/>
            <a:ext cx="1904047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Phase 3 — Graph Core </a:t>
            </a:r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✅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4270" y="3924062"/>
            <a:ext cx="190404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NetworkX event graph, LLM extraction, PageRank scoring.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45172" y="4150281"/>
            <a:ext cx="280988" cy="15240"/>
          </a:xfrm>
          <a:prstGeom prst="roundRect">
            <a:avLst>
              <a:gd name="adj" fmla="val 387308"/>
            </a:avLst>
          </a:prstGeom>
          <a:solidFill>
            <a:srgbClr val="BBC2DC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7726" y="4105215"/>
            <a:ext cx="105370" cy="105370"/>
          </a:xfrm>
          <a:prstGeom prst="roundRect">
            <a:avLst>
              <a:gd name="adj" fmla="val 433900"/>
            </a:avLst>
          </a:prstGeom>
          <a:solidFill>
            <a:srgbClr val="1A2D7A"/>
          </a:solidFill>
          <a:ln/>
        </p:spPr>
      </p:sp>
      <p:sp>
        <p:nvSpPr>
          <p:cNvPr id="20" name="Text 18"/>
          <p:cNvSpPr/>
          <p:nvPr/>
        </p:nvSpPr>
        <p:spPr>
          <a:xfrm>
            <a:off x="10522506" y="4048125"/>
            <a:ext cx="1904047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Phase 4 — Audio (Current)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522506" y="4601408"/>
            <a:ext cx="1904047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Kokoro + EdgeTTS dual synthesis integration.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94664" y="4827627"/>
            <a:ext cx="280988" cy="15240"/>
          </a:xfrm>
          <a:prstGeom prst="roundRect">
            <a:avLst>
              <a:gd name="adj" fmla="val 387308"/>
            </a:avLst>
          </a:prstGeom>
          <a:solidFill>
            <a:srgbClr val="BBC2DC"/>
          </a:solidFill>
          <a:ln/>
        </p:spPr>
      </p:sp>
      <p:sp>
        <p:nvSpPr>
          <p:cNvPr id="23" name="Shape 21"/>
          <p:cNvSpPr/>
          <p:nvPr/>
        </p:nvSpPr>
        <p:spPr>
          <a:xfrm>
            <a:off x="9907726" y="4782562"/>
            <a:ext cx="105370" cy="105370"/>
          </a:xfrm>
          <a:prstGeom prst="roundRect">
            <a:avLst>
              <a:gd name="adj" fmla="val 433900"/>
            </a:avLst>
          </a:prstGeom>
          <a:solidFill>
            <a:srgbClr val="1A2D7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4270" y="4725472"/>
            <a:ext cx="1904047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Phases 6 &amp; 7 — Validate &amp; Deploy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94270" y="5278755"/>
            <a:ext cx="190404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Temporal weighting experiments; demo submission package.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11467" y="6054685"/>
            <a:ext cx="5058132" cy="975360"/>
          </a:xfrm>
          <a:prstGeom prst="roundRect">
            <a:avLst>
              <a:gd name="adj" fmla="val 6052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7201" y="6210419"/>
            <a:ext cx="1849160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Branching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367201" y="6496169"/>
            <a:ext cx="4746665" cy="378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Trunk-based development — direct commits to 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optimise velocity for a solo research model.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682" y="6054685"/>
            <a:ext cx="5058251" cy="975360"/>
          </a:xfrm>
          <a:prstGeom prst="roundRect">
            <a:avLst>
              <a:gd name="adj" fmla="val 6052"/>
            </a:avLst>
          </a:prstGeom>
          <a:solidFill>
            <a:srgbClr val="FFFAFA"/>
          </a:solidFill>
          <a:ln w="15240">
            <a:solidFill>
              <a:srgbClr val="BBC2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416" y="6210419"/>
            <a:ext cx="1849160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Testing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516416" y="6496169"/>
            <a:ext cx="4746784" cy="378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verify_modular.py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runs the full mocked chain end-to-end, preventing regressions across every sprint.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76256"/>
            <a:ext cx="713339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Current Status — Phase 4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30460"/>
            <a:ext cx="3075384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100%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70585" y="3716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Pipeline Complete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4202192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Ingest → Graph → PageRank → Audio is fully traversable today.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04442" y="2730460"/>
            <a:ext cx="3075384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82M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16718" y="3716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Kokoro Params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04442" y="4202192"/>
            <a:ext cx="307538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CPU-friendly ONNX model — no GPU required.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50574" y="2730460"/>
            <a:ext cx="3075384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0.15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562850" y="3716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Graduation Score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0574" y="4202192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PageRank threshold separating main cast from background characters.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96707" y="2730460"/>
            <a:ext cx="3075384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α=0.85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0894933" y="3716060"/>
            <a:ext cx="287893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PageRank Damping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96707" y="4202192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Standard damping factor applied across the character–event graph.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5486043"/>
            <a:ext cx="13113782" cy="1267182"/>
          </a:xfrm>
          <a:prstGeom prst="roundRect">
            <a:avLst>
              <a:gd name="adj" fmla="val 7181"/>
            </a:avLst>
          </a:prstGeom>
          <a:solidFill>
            <a:srgbClr val="C0CAF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884" y="5810964"/>
            <a:ext cx="270748" cy="2165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2207" y="5756672"/>
            <a:ext cx="121933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 Progress: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Voice Management (attribute-based voice ID assignment) · Temporal edge weighting · Alias resolution via spaCy coreference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4578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691765"/>
            <a:ext cx="1843921" cy="11395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102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Core Runtime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588193"/>
            <a:ext cx="4190762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3.9+ with a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Switchboard/Adapter Pattern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Abstract base classes for each provider ensure plug-and-play extensibility across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/adapters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/core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and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/app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19" y="2691765"/>
            <a:ext cx="1843921" cy="11395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102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Graph &amp; Memory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4588193"/>
            <a:ext cx="4190762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NetworkX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directed acyclic graph with JSON serialisation (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story_graph.json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). KuzuDB migration planned for 1,000+ chapter scalability.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329" y="2691765"/>
            <a:ext cx="1843921" cy="11395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41020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AI &amp; Synthesis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4588193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LiteLLM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(Gemini Flash default) for extraction.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Kokoro ONNX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for premium local TTS;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Microsoft EdgeTTS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as cloud fallback for background cast.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9119" y="1235631"/>
            <a:ext cx="4279106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Challenges &amp; Risks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569119" y="1953458"/>
            <a:ext cx="8005763" cy="1166693"/>
          </a:xfrm>
          <a:prstGeom prst="roundRect">
            <a:avLst>
              <a:gd name="adj" fmla="val 9405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6259" y="1953458"/>
            <a:ext cx="91440" cy="1166693"/>
          </a:xfrm>
          <a:prstGeom prst="roundRect">
            <a:avLst>
              <a:gd name="adj" fmla="val 74689"/>
            </a:avLst>
          </a:prstGeom>
          <a:solidFill>
            <a:srgbClr val="1A2D7A"/>
          </a:solidFill>
          <a:ln/>
        </p:spPr>
      </p:sp>
      <p:sp>
        <p:nvSpPr>
          <p:cNvPr id="6" name="Text 3"/>
          <p:cNvSpPr/>
          <p:nvPr/>
        </p:nvSpPr>
        <p:spPr>
          <a:xfrm>
            <a:off x="823079" y="2138839"/>
            <a:ext cx="213955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JSON vs. KuzuDB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3079" y="2479477"/>
            <a:ext cx="7566422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JSON persistence enables rapid prototyping and full transparency but will throttle performance beyond ~1,000 chapters. Migration to KuzuDB is scoped but not yet initiated.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9119" y="3242191"/>
            <a:ext cx="8005763" cy="1174313"/>
          </a:xfrm>
          <a:prstGeom prst="roundRect">
            <a:avLst>
              <a:gd name="adj" fmla="val 9344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6259" y="3242191"/>
            <a:ext cx="91440" cy="1174313"/>
          </a:xfrm>
          <a:prstGeom prst="roundRect">
            <a:avLst>
              <a:gd name="adj" fmla="val 74689"/>
            </a:avLst>
          </a:prstGeom>
          <a:solidFill>
            <a:srgbClr val="1A2D7A"/>
          </a:solidFill>
          <a:ln/>
        </p:spPr>
      </p:sp>
      <p:sp>
        <p:nvSpPr>
          <p:cNvPr id="10" name="Text 7"/>
          <p:cNvSpPr/>
          <p:nvPr/>
        </p:nvSpPr>
        <p:spPr>
          <a:xfrm>
            <a:off x="823079" y="3427571"/>
            <a:ext cx="304728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Static Graduation Threshold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23079" y="3768209"/>
            <a:ext cx="756642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hard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PageRank boundary risks over-promoting characters in dense interaction webs. Adaptive, cast-size-relative thresholds are needed at scale.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9119" y="4538543"/>
            <a:ext cx="8005763" cy="1166693"/>
          </a:xfrm>
          <a:prstGeom prst="roundRect">
            <a:avLst>
              <a:gd name="adj" fmla="val 9405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6259" y="4538543"/>
            <a:ext cx="91440" cy="1166693"/>
          </a:xfrm>
          <a:prstGeom prst="roundRect">
            <a:avLst>
              <a:gd name="adj" fmla="val 74689"/>
            </a:avLst>
          </a:prstGeom>
          <a:solidFill>
            <a:srgbClr val="1A2D7A"/>
          </a:solidFill>
          <a:ln/>
        </p:spPr>
      </p:sp>
      <p:sp>
        <p:nvSpPr>
          <p:cNvPr id="14" name="Text 11"/>
          <p:cNvSpPr/>
          <p:nvPr/>
        </p:nvSpPr>
        <p:spPr>
          <a:xfrm>
            <a:off x="823079" y="4723924"/>
            <a:ext cx="213955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 Temporal Decay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23079" y="5064562"/>
            <a:ext cx="7566422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Without timestamp-weighted edges, legacy characters retain high PageRank indefinitely — starving newly introduced characters of premium audio resources.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9119" y="5827276"/>
            <a:ext cx="8005763" cy="1166693"/>
          </a:xfrm>
          <a:prstGeom prst="roundRect">
            <a:avLst>
              <a:gd name="adj" fmla="val 9405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6259" y="5827276"/>
            <a:ext cx="91440" cy="1166693"/>
          </a:xfrm>
          <a:prstGeom prst="roundRect">
            <a:avLst>
              <a:gd name="adj" fmla="val 74689"/>
            </a:avLst>
          </a:prstGeom>
          <a:solidFill>
            <a:srgbClr val="1A2D7A"/>
          </a:solidFill>
          <a:ln/>
        </p:spPr>
      </p:sp>
      <p:sp>
        <p:nvSpPr>
          <p:cNvPr id="18" name="Text 15"/>
          <p:cNvSpPr/>
          <p:nvPr/>
        </p:nvSpPr>
        <p:spPr>
          <a:xfrm>
            <a:off x="823079" y="6012656"/>
            <a:ext cx="224337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Alias Resolution Gap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23079" y="6353294"/>
            <a:ext cx="7566422" cy="45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"Aria"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pPr algn="l"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"the girl"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are treated as separate graph nodes. Absent coreference resolution, the character graph accumulates duplicates over long narratives.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6853" y="798790"/>
            <a:ext cx="6031944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Roadmap &amp; Next Milestones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6853" y="1658541"/>
            <a:ext cx="160377" cy="1603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86853" y="1888212"/>
            <a:ext cx="5632490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5" name="Text 2"/>
          <p:cNvSpPr/>
          <p:nvPr/>
        </p:nvSpPr>
        <p:spPr>
          <a:xfrm>
            <a:off x="1486853" y="2014061"/>
            <a:ext cx="275594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Voice Assignment Service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86853" y="2396847"/>
            <a:ext cx="5632490" cy="44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Map dynamic character qualities to specific Kokoro voice IDs — replacing hardcoded test voices.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6853" y="3102888"/>
            <a:ext cx="160377" cy="1603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86853" y="3332559"/>
            <a:ext cx="5632490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9" name="Text 5"/>
          <p:cNvSpPr/>
          <p:nvPr/>
        </p:nvSpPr>
        <p:spPr>
          <a:xfrm>
            <a:off x="1486853" y="3458408"/>
            <a:ext cx="2187416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Temporal Weighting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486853" y="3841194"/>
            <a:ext cx="5632490" cy="44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Attach chapter timestamps to graph edges; introduce PageRank decay so legacy characters naturally fade.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6853" y="4547235"/>
            <a:ext cx="160377" cy="1603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486853" y="4776907"/>
            <a:ext cx="5632490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3" name="Text 8"/>
          <p:cNvSpPr/>
          <p:nvPr/>
        </p:nvSpPr>
        <p:spPr>
          <a:xfrm>
            <a:off x="1486853" y="4902756"/>
            <a:ext cx="211169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Alias Resolution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486853" y="5285542"/>
            <a:ext cx="5632490" cy="44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Integrate a spaCy coreference pipeline to merge alias nodes and eliminate graph duplication.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6853" y="5991582"/>
            <a:ext cx="160377" cy="16037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486853" y="6221254"/>
            <a:ext cx="5632490" cy="22860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7" name="Text 11"/>
          <p:cNvSpPr/>
          <p:nvPr/>
        </p:nvSpPr>
        <p:spPr>
          <a:xfrm>
            <a:off x="1486853" y="6347103"/>
            <a:ext cx="211169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KuzuDB Migration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1486853" y="6729889"/>
            <a:ext cx="5632490" cy="44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Replace JSON serialisation with KuzuDB to support 100+ chapter production-scale narratives.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402830" y="1504831"/>
            <a:ext cx="5863709" cy="5925979"/>
          </a:xfrm>
          <a:prstGeom prst="roundRect">
            <a:avLst>
              <a:gd name="adj" fmla="val 1971"/>
            </a:avLst>
          </a:prstGeom>
          <a:solidFill>
            <a:srgbClr val="1A2D7A"/>
          </a:solidFill>
          <a:ln/>
        </p:spPr>
      </p:sp>
      <p:sp>
        <p:nvSpPr>
          <p:cNvPr id="20" name="Text 14"/>
          <p:cNvSpPr/>
          <p:nvPr/>
        </p:nvSpPr>
        <p:spPr>
          <a:xfrm>
            <a:off x="7563207" y="1623655"/>
            <a:ext cx="211169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Conclusion</a:t>
            </a:r>
            <a:endParaRPr lang="en-US" sz="1650" dirty="0"/>
          </a:p>
        </p:txBody>
      </p:sp>
      <p:sp>
        <p:nvSpPr>
          <p:cNvPr id="21" name="Text 15"/>
          <p:cNvSpPr/>
          <p:nvPr/>
        </p:nvSpPr>
        <p:spPr>
          <a:xfrm>
            <a:off x="7563207" y="2006441"/>
            <a:ext cx="5542955" cy="670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Webnovel Architect has crossed the prototype threshold into a fully verifiable Neuro-Symbolic application — 100% of the extraction → graph → scoring → audio pipeline is traversable today.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563207" y="2783800"/>
            <a:ext cx="5542955" cy="446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next milestone: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production-readiness for 100+ chapter scale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via KuzuDB and temporal graph decay.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563207" y="3444596"/>
            <a:ext cx="5542955" cy="2762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7563207" y="3605808"/>
            <a:ext cx="5542955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563207" y="3936206"/>
            <a:ext cx="554295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73A8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verify_modular.py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traverse the full pipeline end-to-end.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2026-02-23T14:02:01Z</dcterms:created>
  <dcterms:modified xsi:type="dcterms:W3CDTF">2026-02-23T14:02:01Z</dcterms:modified>
</cp:coreProperties>
</file>